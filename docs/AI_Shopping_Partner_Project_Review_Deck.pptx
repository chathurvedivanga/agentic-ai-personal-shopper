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A26D-B729-ACDE-645E-664584D8F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0DC4C-0FCC-49AD-6C90-9B576FE13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5C4F7-9E57-09A0-B081-2EBFF9A8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18AC-531B-C784-97A2-31136996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574F-8DF4-663C-B630-CDE65819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15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1D2F-9974-1B0C-453F-4622BABD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E2F-F38E-63F8-7509-830AF523A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2A0C-1A16-75BE-79CE-DAFBA069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98B76-3B93-5D4B-A267-BC0EAD2F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79882-2110-90EA-38FA-ADAA38CF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53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359-AD6B-AFEC-11BE-1F340DB5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C22EE-546A-7CB2-3440-74AD03ADA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C363-CD92-14F2-CBF8-083F7A56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0391-70C6-3153-8879-9AE17E1F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7622-D017-2F7A-9B0B-25E50836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41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717E-C911-07EA-8D50-A1AFBF03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A9D6-3D65-C622-92C7-F453A61BB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FA032-585B-B2A8-3550-1EA38D9D5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2654C-DCAA-2C80-4F99-391E8D1F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EFD5D-F1C8-A253-1D10-65154D43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2C0FD-F93D-C5CE-CC9C-2BDE28E4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5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2216-F634-A00B-C7CF-737AE1A1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BAD0-8B84-B5AD-E15B-8D4BDDC3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AD6D4-C0F4-D9F5-8619-1C335151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35B90-371C-DA76-A94C-CE8397733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A15E7-EFBC-9181-7A79-106406BA6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A381A9-AFE4-2C67-2225-FD8F1B3C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A4C31-0A55-6AF1-1F29-A428357B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4E1B5-E177-9A31-DB81-6DDE915A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45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5FDB-EAB7-467A-BC7A-72F77A97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A088B-5794-F598-16AD-0BE596AF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1901E-E843-29BF-E1CA-50CBDF1C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208A4-E74B-7506-0DF7-67D89CF4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10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017D2D-DF41-B388-C993-A887148F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76AAE-CC9B-1123-14A3-0BCE9D42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4EB69-7626-B924-BF62-3DCAAB61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8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84E8-A8FB-73AE-31D7-91A36E57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83DE-713F-8439-E502-B401CBEB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A8366-8964-FA75-75D5-7FE4C32B0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A53FC-A42E-33C6-B4BC-6D2AC3C4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26F1-1714-3487-B2AA-2BE361AF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6729F-4189-6F7A-7B9D-C47C56C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00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C5E8-3DEF-7262-303A-AF6B8FAA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2D051-E5E8-B8BF-C30F-15489B0AF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17A12-CEB3-40FA-54AB-2FE24E892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9D5A8-C805-7214-F04B-830D7B08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B915F-9765-9DDA-AD7D-54C258F1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C81A5-E8F5-1278-A803-701497B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85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491E-07D9-7B25-4437-F0D2BF3C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F75A0-4900-8138-179D-FDFE366D0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604CA-6F28-0033-DFEB-989C303A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83BBB-F25B-AD9D-94A9-953E0E75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D1023-362D-BD6C-EFD8-8E0DA670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6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9CB5D-5EEC-BCBB-D489-6AB009090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F363-2D58-C33E-CF5D-37FC4C319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491C-C9A6-5472-51B8-56603396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0C3E4-2E92-9671-1342-C2EC0369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98354-4AC2-FC92-811C-66785E3A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96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1F6B2-2BF1-D7CA-2199-5E3F6CBD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863BA-27D4-FBF7-3DE6-6731DEF0A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8DDCA-22AC-F0CE-7CFD-BE1CCDFB2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BF9E7-3DC7-4CC9-97F5-F110A56076C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2ED06-0F85-F5A2-6703-2E697DEC7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CF72A-D0EF-6A8C-2D47-25003DDEC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CC3B3-0C78-48A1-AB39-22C2A330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23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AC0844-CEA8-8A16-4120-DF2DC64D8532}"/>
              </a:ext>
            </a:extLst>
          </p:cNvPr>
          <p:cNvCxnSpPr/>
          <p:nvPr/>
        </p:nvCxnSpPr>
        <p:spPr>
          <a:xfrm>
            <a:off x="457200" y="711200"/>
            <a:ext cx="5003800" cy="0"/>
          </a:xfrm>
          <a:prstGeom prst="line">
            <a:avLst/>
          </a:prstGeom>
          <a:ln w="25400">
            <a:solidFill>
              <a:srgbClr val="D2B4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1A125B-22CD-DFA8-E611-EECDC68C5E9F}"/>
              </a:ext>
            </a:extLst>
          </p:cNvPr>
          <p:cNvSpPr txBox="1"/>
          <p:nvPr/>
        </p:nvSpPr>
        <p:spPr>
          <a:xfrm>
            <a:off x="457200" y="304800"/>
            <a:ext cx="4191000" cy="276999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D2B460"/>
                </a:solidFill>
                <a:latin typeface="Aptos" panose="020B0004020202020204" pitchFamily="34" charset="0"/>
              </a:rPr>
              <a:t>PROJECT REVIEW DECK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C5068-CE4E-51A6-B026-27574DDF3C28}"/>
              </a:ext>
            </a:extLst>
          </p:cNvPr>
          <p:cNvSpPr txBox="1"/>
          <p:nvPr/>
        </p:nvSpPr>
        <p:spPr>
          <a:xfrm>
            <a:off x="457200" y="914400"/>
            <a:ext cx="5207000" cy="95410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F4F6F8"/>
                </a:solidFill>
                <a:latin typeface="Aptos Display" panose="020B0004020202020204" pitchFamily="34" charset="0"/>
              </a:rPr>
              <a:t>Agentic AI</a:t>
            </a:r>
          </a:p>
          <a:p>
            <a:r>
              <a:rPr lang="en-IN" sz="2800" b="1">
                <a:solidFill>
                  <a:srgbClr val="F4F6F8"/>
                </a:solidFill>
                <a:latin typeface="Aptos Display" panose="020B0004020202020204" pitchFamily="34" charset="0"/>
              </a:rPr>
              <a:t>Personal Shopper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FA2F8-5D84-E6A2-33E1-3F7CF24FF071}"/>
              </a:ext>
            </a:extLst>
          </p:cNvPr>
          <p:cNvSpPr txBox="1"/>
          <p:nvPr/>
        </p:nvSpPr>
        <p:spPr>
          <a:xfrm>
            <a:off x="457200" y="2311400"/>
            <a:ext cx="4953000" cy="1723549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Full-stack AI shopping assistant for evidence-grounded product decisions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Built with React, Flask, Gemini, YouTube transcript research, SSE, and Postgres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Review scope: vision, architecture, engineering journey, deployment, and outcomes</a:t>
            </a:r>
            <a:endParaRPr lang="en-IN" sz="16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A448E4-4CAC-735C-11B2-CB6851469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31729"/>
              </p:ext>
            </p:extLst>
          </p:nvPr>
        </p:nvGraphicFramePr>
        <p:xfrm>
          <a:off x="457200" y="4572000"/>
          <a:ext cx="4953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401674863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12079891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Item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Details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356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Names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V Rama Chandra Chathurvedi, Aravind Prasad R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2642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Reg. No.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25MCS0067, 25MCS0060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2614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Guide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Dr. Baiju B V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33603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Project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AI Shopping Partner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097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DBF3FA4-D013-54C5-22D4-2A6ADAB1CC2B}"/>
              </a:ext>
            </a:extLst>
          </p:cNvPr>
          <p:cNvSpPr/>
          <p:nvPr/>
        </p:nvSpPr>
        <p:spPr>
          <a:xfrm>
            <a:off x="5969000" y="533400"/>
            <a:ext cx="5715000" cy="54610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41587-094C-4A69-371B-04F933350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541179"/>
            <a:ext cx="5715000" cy="5453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27192-22B4-2FB8-9AFD-54963DE37325}"/>
              </a:ext>
            </a:extLst>
          </p:cNvPr>
          <p:cNvSpPr txBox="1"/>
          <p:nvPr/>
        </p:nvSpPr>
        <p:spPr>
          <a:xfrm>
            <a:off x="5969000" y="6070600"/>
            <a:ext cx="5715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Final landing experience of the deployed web application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95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DBE79C-8C3D-2D6C-CCD3-C4008D5A1A36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199D8C-9D3D-CD3E-6901-14C13F9916BF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Executive Summary and Core Ideologies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19C49-587A-10F9-2921-90C343EF309D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VISION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D5EEF-E404-32BB-24C9-0682294344C3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D661A0-33FE-1B03-D72C-5BEE2C747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571355"/>
              </p:ext>
            </p:extLst>
          </p:nvPr>
        </p:nvGraphicFramePr>
        <p:xfrm>
          <a:off x="457200" y="111760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415687569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806878008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10626251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Core ideology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How it was implemented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Review value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070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Evidence-grounded shopping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Recommendations synthesized from YouTube review transcripts and explicit source links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Moves output away from generic chatbot advice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7545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Conversational continuity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Follow-up questions, saved sessions, auto-titles, rename/delete, sidebar revisit flow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Let’s users continue buying decisions over time</a:t>
                      </a:r>
                      <a:endParaRPr lang="en-IN" sz="1100" b="0" dirty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5591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Latency-conscious engineering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ThreadPoolExecutor, SSE streaming, hybrid tool routing, lighter transcript payloads, caching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Improves both real and perceived responsiveness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59621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Privacy-first persistence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Anonymous browser-scoped ownership for each session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Prevents chat leakage on a public website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96541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Deployment realism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GitHub source control, Render Blueprint, Postgres, env wiring, health checks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Makes the project review-ready beyond localhost</a:t>
                      </a:r>
                      <a:endParaRPr lang="en-IN" sz="1100" b="0" dirty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409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385F9B-BA8F-6D60-C6A5-57004257D713}"/>
              </a:ext>
            </a:extLst>
          </p:cNvPr>
          <p:cNvSpPr txBox="1"/>
          <p:nvPr/>
        </p:nvSpPr>
        <p:spPr>
          <a:xfrm>
            <a:off x="457200" y="5867400"/>
            <a:ext cx="11277600" cy="2923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300">
                <a:solidFill>
                  <a:srgbClr val="8992A5"/>
                </a:solidFill>
                <a:latin typeface="Aptos" panose="020B0004020202020204" pitchFamily="34" charset="0"/>
              </a:rPr>
              <a:t>Overall design target: a practical AI shopping product, not a toy demo.</a:t>
            </a:r>
            <a:endParaRPr lang="en-IN" sz="1300">
              <a:solidFill>
                <a:srgbClr val="8992A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88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051BA4-70E0-8358-1F4A-BCFDE674CCF5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2D4C53-840F-38EF-3AF8-78154C0B7D16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Problem Statement and Project Goals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FEAD9-25F2-B191-486C-18C0E8060849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WHY THIS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89F3F-8ED4-03BC-AEFF-C00E88E9DD3B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FA294-8A0E-9F49-8348-ED17B54D6199}"/>
              </a:ext>
            </a:extLst>
          </p:cNvPr>
          <p:cNvSpPr txBox="1"/>
          <p:nvPr/>
        </p:nvSpPr>
        <p:spPr>
          <a:xfrm>
            <a:off x="558800" y="990600"/>
            <a:ext cx="5080000" cy="2923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1300" b="1">
                <a:solidFill>
                  <a:srgbClr val="D2B460"/>
                </a:solidFill>
                <a:latin typeface="Aptos" panose="020B0004020202020204" pitchFamily="34" charset="0"/>
              </a:rPr>
              <a:t>Problem being solved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01544-EB8A-512B-CA5F-9E9C691A8EDC}"/>
              </a:ext>
            </a:extLst>
          </p:cNvPr>
          <p:cNvSpPr/>
          <p:nvPr/>
        </p:nvSpPr>
        <p:spPr>
          <a:xfrm>
            <a:off x="457200" y="1295400"/>
            <a:ext cx="5207000" cy="4572000"/>
          </a:xfrm>
          <a:prstGeom prst="rect">
            <a:avLst/>
          </a:prstGeom>
          <a:solidFill>
            <a:srgbClr val="12151C"/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C8FE5-FE0D-DC27-8C8C-10B49CAC853F}"/>
              </a:ext>
            </a:extLst>
          </p:cNvPr>
          <p:cNvSpPr txBox="1"/>
          <p:nvPr/>
        </p:nvSpPr>
        <p:spPr>
          <a:xfrm>
            <a:off x="685800" y="1549400"/>
            <a:ext cx="4724400" cy="229293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Online product research is fragmented across videos, specs, comments, and opinions.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Buyers need verdicts and comparisons, not just a list of links.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Typical chatbots often lack cited evidence and strong session continuity.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Public deployment introduces privacy and persistence challenges.</a:t>
            </a:r>
            <a:endParaRPr lang="en-IN" sz="16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E9F32-8B04-7B59-A003-42ECFE09FB0C}"/>
              </a:ext>
            </a:extLst>
          </p:cNvPr>
          <p:cNvSpPr txBox="1"/>
          <p:nvPr/>
        </p:nvSpPr>
        <p:spPr>
          <a:xfrm>
            <a:off x="6350000" y="990600"/>
            <a:ext cx="5080000" cy="2923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1300" b="1">
                <a:solidFill>
                  <a:srgbClr val="D2B460"/>
                </a:solidFill>
                <a:latin typeface="Aptos" panose="020B0004020202020204" pitchFamily="34" charset="0"/>
              </a:rPr>
              <a:t>Project goals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9205A-D2B1-2599-366E-CE0C9D3B066F}"/>
              </a:ext>
            </a:extLst>
          </p:cNvPr>
          <p:cNvSpPr/>
          <p:nvPr/>
        </p:nvSpPr>
        <p:spPr>
          <a:xfrm>
            <a:off x="6248400" y="1295400"/>
            <a:ext cx="5486400" cy="4572000"/>
          </a:xfrm>
          <a:prstGeom prst="rect">
            <a:avLst/>
          </a:prstGeom>
          <a:solidFill>
            <a:srgbClr val="12151C"/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E07C0-93F9-FFB3-1AAB-07073F25FAA9}"/>
              </a:ext>
            </a:extLst>
          </p:cNvPr>
          <p:cNvSpPr txBox="1"/>
          <p:nvPr/>
        </p:nvSpPr>
        <p:spPr>
          <a:xfrm>
            <a:off x="6477000" y="1549400"/>
            <a:ext cx="5003800" cy="286232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Accept natural-language shopping requests and follow-up questions.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Search YouTube reviews only when fresh evidence is required.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Extract transcripts automatically and synthesize a shopping verdict.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Stream responses live and save research for later reuse.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Deploy publicly with a professional UI and production-style persistence.</a:t>
            </a:r>
            <a:endParaRPr lang="en-IN" sz="16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6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B8DCC8-6ED7-DC67-406C-77C76EB135A9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5DB968-322E-C389-8FDD-84CC4EF4B93C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Development Timeline: From MVP to Public Deployment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EFCDC5-6442-CC5E-5306-4273376D2299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JOURNEY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5D267-1EBE-2C72-2D0B-76594E88D57A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7E310C-44C2-8044-D2A9-625859BD6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16020"/>
              </p:ext>
            </p:extLst>
          </p:nvPr>
        </p:nvGraphicFramePr>
        <p:xfrm>
          <a:off x="457200" y="1244600"/>
          <a:ext cx="11277600" cy="406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1022361718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610042592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478500090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Phase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What was built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Outcome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66191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1. Foundation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React/Vite frontend shell + modular Flask backend (app.py, agent.py, scraper.py)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Stable starting architecture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492276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2. Retrieval + AI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 search, transcript extraction, Gemini synthesis, SSE streaming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End-to-end chat research flow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93700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3. Product UX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Dark interface, prompt composer, source chips, better output formatting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Professional and review-friendly UI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6875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4. Session features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Saved chats, smart title generation, rename/delete, sidebar navigation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Conversation continuity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21727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5. Hardening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Privacy isolation, latency fixes, model fallback, Render/Postgres deployment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Publicly usable system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3847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869F43-28D2-DCF1-65A7-7A8C9DFC432C}"/>
              </a:ext>
            </a:extLst>
          </p:cNvPr>
          <p:cNvSpPr txBox="1"/>
          <p:nvPr/>
        </p:nvSpPr>
        <p:spPr>
          <a:xfrm>
            <a:off x="457200" y="5511800"/>
            <a:ext cx="11277600" cy="63094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The project evolved from a functional prototype into a production-style full-stack application.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Each iteration addressed a real engineering limitation: reliability, speed, privacy, or UX clarity.</a:t>
            </a:r>
            <a:endParaRPr lang="en-IN" sz="15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28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FDAD83-3E5B-60A6-8048-C756B93165E1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8F5CCF-7C4F-BF8B-9073-E2958E89EE8B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4F6F8"/>
                </a:solidFill>
                <a:latin typeface="Aptos Display" panose="020B0004020202020204" pitchFamily="34" charset="0"/>
              </a:rPr>
              <a:t>Initial Scope vs Final Delivered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A6E26-99C1-B5DA-039F-811EF79F2CDF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67ACB-5559-E734-D38C-920C086F24AE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9EE5C0-BDDC-617B-FE12-243E51A94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61889"/>
              </p:ext>
            </p:extLst>
          </p:nvPr>
        </p:nvGraphicFramePr>
        <p:xfrm>
          <a:off x="304800" y="1092200"/>
          <a:ext cx="11582400" cy="4775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38541244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10105680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25019268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310146623"/>
                    </a:ext>
                  </a:extLst>
                </a:gridCol>
              </a:tblGrid>
              <a:tr h="68217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Area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Initial requirement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Final implementation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568663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Backend structure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app.py, agent.py, scraper.py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Added storage.py, session CRUD routes, privacy ownership, deployment-ready configuration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097441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Intent routing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Fast decision on whether fresh YouTube research is needed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Hybrid fast-path research + Gemini tool decision for ambiguous turns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35975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Parallel retrieval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Fetch top video transcripts in parallel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Multi-variant search + dedupe + ThreadPoolExecutor transcript extraction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234579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Streaming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Gemini response streamed to UI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SSE with session, status, sources, chunk, done, and error events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531440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Chat UI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Modern conversational interface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Dark minimal interface with collapsible sidebar and keyboard-first composer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488255"/>
                  </a:ext>
                </a:extLst>
              </a:tr>
              <a:tr h="6821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History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Maintain conversation context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Saved chats, smart titles, rename/delete, DB persistence, browser privacy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Delivered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350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96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E3F1E72-8EFC-93D1-4A84-3CB46ABD9D2A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401BCE-9AED-97FF-E884-F548C06DFD0E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Technology Stack and Platform Choices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FC6FA-0C0E-8FF3-8EEE-356694FE125D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4A65E-C412-02B3-7890-A1FFE2836826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C274B6-0B11-F1FD-CD99-CA673C98C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483508"/>
              </p:ext>
            </p:extLst>
          </p:nvPr>
        </p:nvGraphicFramePr>
        <p:xfrm>
          <a:off x="304800" y="1092200"/>
          <a:ext cx="11582400" cy="4927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651489745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75360108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5546961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513381492"/>
                    </a:ext>
                  </a:extLst>
                </a:gridCol>
              </a:tblGrid>
              <a:tr h="703943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Layer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Technology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Purpose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Why this choice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287041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Frontend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React + Vite + Tailwind CSS + react-markdown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Interactive chat UI and fast development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Component-based, responsive, lightweight, markdown-friendly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83932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Backend API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Python Flask + Gunicorn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REST API, SSE streaming, routing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Simple, modular, and suitable for Render web services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98444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AI layer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Google Gemini Flash family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Product verdicts, comparisons, titles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Fast enough for conversational synthesis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248332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Retrieval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youtube-search-python + youtube-transcript-api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Review discovery and evidence extraction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No official YouTube Data API keys required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991790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Persistence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SQLite locally, Postgres on Render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Session and message storage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Easy local setup + durable production deployment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378317"/>
                  </a:ext>
                </a:extLst>
              </a:tr>
              <a:tr h="703943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Deployment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GitHub + Render Blueprint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 hosting and infra wiring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Straightforward for Flask, SSE, and Postgres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03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4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8E286C-A9E9-03FE-7989-CD3624F59764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C0E675-7131-F1D2-C407-00AF3DC88345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System Architecture and End-to-End Flow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06654-297C-B971-CD3F-459B884247AB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D9BB4-695A-57CF-C2E5-BC816952C045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3D6258-03A7-594D-A08D-D03B44F07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75025"/>
              </p:ext>
            </p:extLst>
          </p:nvPr>
        </p:nvGraphicFramePr>
        <p:xfrm>
          <a:off x="457200" y="1168400"/>
          <a:ext cx="11277600" cy="4241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3465371599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128245204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079344398"/>
                    </a:ext>
                  </a:extLst>
                </a:gridCol>
              </a:tblGrid>
              <a:tr h="471311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Stage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Responsible layer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Output / behavior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563606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1. Prompt entry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React frontend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Captures query, updates local state, opens/uses active session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374654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2. Chat request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Flask POST /api/chat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Creates or resumes a session and starts streaming events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98215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3. Routing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agent.py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Decides follow-up vs fresh YouTube research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516801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4. Evidence retrieval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scraper.py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Search variants + parallel transcript extraction + source list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806827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5. Synthesis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Gemini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Generates verdict, compare blocks, watch-outs, and INR pricing cues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03879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6. Streaming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SSE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Delivers status, source chips, and text chunks in real time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814237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7. Persistence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storage.py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Stores messages, sessions, titles, and owner-scoped visibility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979200"/>
                  </a:ext>
                </a:extLst>
              </a:tr>
              <a:tr h="471311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8. Revisit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Sidebar + session API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Lets user reopen, rename, or delete research threads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5907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27B840-40D5-561A-ACEF-75DD20025EB2}"/>
              </a:ext>
            </a:extLst>
          </p:cNvPr>
          <p:cNvSpPr txBox="1"/>
          <p:nvPr/>
        </p:nvSpPr>
        <p:spPr>
          <a:xfrm>
            <a:off x="457200" y="5588000"/>
            <a:ext cx="11277600" cy="60016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SSE event contract used by the UI: session, status, sources, chunk, done, and error.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Architecture intentionally separates routing, retrieval, synthesis, storage, and presentation concerns.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35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C52D647-CBA5-6FAF-E6CF-EEAB3A6F7A99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9C7A26-1A32-8F1B-CFB1-1C5F5C26A333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4F6F8"/>
                </a:solidFill>
                <a:latin typeface="Aptos Display" panose="020B0004020202020204" pitchFamily="34" charset="0"/>
              </a:rPr>
              <a:t>Backend Module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75B01-57D7-FD2D-67B6-21FA3B80FA54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13FCE-B4C3-433A-F74B-3B96F798D2D1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0DF3A-3442-6615-F386-16740D27B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583920"/>
              </p:ext>
            </p:extLst>
          </p:nvPr>
        </p:nvGraphicFramePr>
        <p:xfrm>
          <a:off x="457200" y="127000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1111095991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533523842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159632955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Module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Primary responsibilities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Notable implementation details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256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app.py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Flask setup, CORS, routes, SSE streaming, session endpoints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Owns POST /api/chat, health checks, title scheduling, and cookie identity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6678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agent.py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Gemini orchestration and shopping reasoning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Hybrid routing, tool wrapper, model fallback, response policy, title generation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38597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scraper.py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 search and transcript extraction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India-focused query shaping, transcript fallback logic, dedupe, caching support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2746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storage.py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DB schema and CRUD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SQLite local fallback, Postgres production support, owner-scoped session filtering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1333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CB2A1A-C21C-A32E-77A1-EE5D41BB8F23}"/>
              </a:ext>
            </a:extLst>
          </p:cNvPr>
          <p:cNvSpPr txBox="1"/>
          <p:nvPr/>
        </p:nvSpPr>
        <p:spPr>
          <a:xfrm>
            <a:off x="457200" y="4521200"/>
            <a:ext cx="11277600" cy="63094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The modular backend kept routing, research, model logic, and persistence independently maintainable.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This structure also made it easier to debug individual issues such as quota failures, transcript failures, and chat leakage.</a:t>
            </a:r>
            <a:endParaRPr lang="en-IN" sz="15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31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409A7B-FC0D-D02E-E8C6-9C754909C3CF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9FE7C8-D3B4-7D82-CA15-92647BF709D2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YouTube Retrieval Engine and Gemini Intelligence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437677-41B6-0AD6-7DA9-997F0E5C4B55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AI ORCHESTRATION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98421-791D-DD24-F7AB-1BF836382819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DC7CC-5F0F-59A6-8CBC-04CE1D96B8B9}"/>
              </a:ext>
            </a:extLst>
          </p:cNvPr>
          <p:cNvSpPr txBox="1"/>
          <p:nvPr/>
        </p:nvSpPr>
        <p:spPr>
          <a:xfrm>
            <a:off x="558800" y="990600"/>
            <a:ext cx="5080000" cy="2923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1300" b="1">
                <a:solidFill>
                  <a:srgbClr val="D2B460"/>
                </a:solidFill>
                <a:latin typeface="Aptos" panose="020B0004020202020204" pitchFamily="34" charset="0"/>
              </a:rPr>
              <a:t>YouTube evidence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DD4AD-79AF-558D-B6DD-F4C9C46D2D15}"/>
              </a:ext>
            </a:extLst>
          </p:cNvPr>
          <p:cNvSpPr/>
          <p:nvPr/>
        </p:nvSpPr>
        <p:spPr>
          <a:xfrm>
            <a:off x="457200" y="1295400"/>
            <a:ext cx="5207000" cy="4572000"/>
          </a:xfrm>
          <a:prstGeom prst="rect">
            <a:avLst/>
          </a:prstGeom>
          <a:solidFill>
            <a:srgbClr val="12151C"/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A400D-92A4-626A-1B72-45F46544FD01}"/>
              </a:ext>
            </a:extLst>
          </p:cNvPr>
          <p:cNvSpPr txBox="1"/>
          <p:nvPr/>
        </p:nvSpPr>
        <p:spPr>
          <a:xfrm>
            <a:off x="685800" y="1549400"/>
            <a:ext cx="4724400" cy="286232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Derived search variants from the user query with India- and review-oriented bias.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Searched multiple candidate videos and removed duplicates.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Fetched transcripts in parallel with ThreadPoolExecutor for lower latency.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Skipped videos that raised TranscriptsDisabled or NoTranscriptFound.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Used transcript fallbacks, trimming, and caching before passing evidence to Gemini.</a:t>
            </a:r>
            <a:endParaRPr lang="en-IN" sz="16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EFC0F-2AAB-EA44-3EEC-02A08939CCD5}"/>
              </a:ext>
            </a:extLst>
          </p:cNvPr>
          <p:cNvSpPr txBox="1"/>
          <p:nvPr/>
        </p:nvSpPr>
        <p:spPr>
          <a:xfrm>
            <a:off x="6350000" y="990600"/>
            <a:ext cx="5080000" cy="2923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1300" b="1">
                <a:solidFill>
                  <a:srgbClr val="D2B460"/>
                </a:solidFill>
                <a:latin typeface="Aptos" panose="020B0004020202020204" pitchFamily="34" charset="0"/>
              </a:rPr>
              <a:t>Gemini orchestration 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45069A-9D5B-C96A-67B9-CF2542C89E18}"/>
              </a:ext>
            </a:extLst>
          </p:cNvPr>
          <p:cNvSpPr/>
          <p:nvPr/>
        </p:nvSpPr>
        <p:spPr>
          <a:xfrm>
            <a:off x="6248400" y="1295400"/>
            <a:ext cx="5486400" cy="4572000"/>
          </a:xfrm>
          <a:prstGeom prst="rect">
            <a:avLst/>
          </a:prstGeom>
          <a:solidFill>
            <a:srgbClr val="12151C"/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63AC0-BC14-9D9E-0092-16AB7A93A2A9}"/>
              </a:ext>
            </a:extLst>
          </p:cNvPr>
          <p:cNvSpPr txBox="1"/>
          <p:nvPr/>
        </p:nvSpPr>
        <p:spPr>
          <a:xfrm>
            <a:off x="6477000" y="1549400"/>
            <a:ext cx="5003800" cy="310854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Wrapped YouTube research as a native tool: fetch_youtube_reviews(product_name).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Used a hybrid router: fast-path for obvious new research, model decision for ambiguous or follow-up turns.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Streamed final responses through SSE for a live typing effect.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Added stronger prompts for specific models, INR budgets, comparisons, and watch-outs.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600">
                <a:solidFill>
                  <a:srgbClr val="F4F6F8"/>
                </a:solidFill>
                <a:latin typeface="Aptos" panose="020B0004020202020204" pitchFamily="34" charset="0"/>
              </a:rPr>
              <a:t>Introduced model fallback and quota-aware behavior for public deployment.</a:t>
            </a:r>
            <a:endParaRPr lang="en-IN" sz="16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9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EE03D9-8D3F-F83F-8F55-8DEAB7A03BA2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3C1E9D-3C31-4D40-CAD0-AC7D01F03BC4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4F6F8"/>
                </a:solidFill>
                <a:latin typeface="Aptos Display" panose="020B0004020202020204" pitchFamily="34" charset="0"/>
              </a:rPr>
              <a:t>Frontend UX and Interaction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6A2D9-19A3-AA90-F616-4423498F6C48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USER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550BE-1CFC-C03E-3411-32B4491F2D4F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D0AF03-3203-25E4-D0AD-38779322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155661"/>
              </p:ext>
            </p:extLst>
          </p:nvPr>
        </p:nvGraphicFramePr>
        <p:xfrm>
          <a:off x="914400" y="1371600"/>
          <a:ext cx="10363200" cy="3479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173443538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648718691"/>
                    </a:ext>
                  </a:extLst>
                </a:gridCol>
              </a:tblGrid>
              <a:tr h="497114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UX objective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Final implementation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428832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Minimal visual noise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Dark, low-glare interface with centered landing page and restrained accent colors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66038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Fast first interaction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Suggestion chips, large composer, keyboard-first prompt flow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53626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Streaming clarity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Live status labels, source chips, incremental answer rendering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4391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Navigation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Collapsible sidebar, home click behavior, draft/new chat flow</a:t>
                      </a:r>
                      <a:endParaRPr lang="en-IN" sz="12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693362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Session control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Rename, delete, revisit, and single smart auto-title generation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970119"/>
                  </a:ext>
                </a:extLst>
              </a:tr>
              <a:tr h="497114"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Responsiveness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Desktop sidebar plus mobile-friendly drawer behavior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5642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FC8F76-96BB-CEA8-9312-124B4ECF0C21}"/>
              </a:ext>
            </a:extLst>
          </p:cNvPr>
          <p:cNvSpPr txBox="1"/>
          <p:nvPr/>
        </p:nvSpPr>
        <p:spPr>
          <a:xfrm>
            <a:off x="914400" y="5130800"/>
            <a:ext cx="10363200" cy="63094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The UI deliberately moved away from cluttered tables and duplicated controls.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The final design aligns more closely with the interaction patterns of ChatGPT, Gemini, Claude, and Copilot.</a:t>
            </a:r>
            <a:endParaRPr lang="en-IN" sz="15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EA48C2-E896-975E-0C2D-56F6044E8B60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A73F1A-9AF7-2370-2B49-683DA3C452E9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UI Walkthrough: Landing State and Prompt Entry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7048B-B55A-63A8-211D-340F687F50A0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D88DD-C381-38CD-0899-769EEC9563A7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B1543-355A-B6A8-F06F-29757A6C04C3}"/>
              </a:ext>
            </a:extLst>
          </p:cNvPr>
          <p:cNvSpPr/>
          <p:nvPr/>
        </p:nvSpPr>
        <p:spPr>
          <a:xfrm>
            <a:off x="457200" y="1117600"/>
            <a:ext cx="5397500" cy="41910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16346F-B3F5-42F6-6533-F948A1A59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17600"/>
            <a:ext cx="5397500" cy="41909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E96266-44C7-7334-72F6-5A8A0A751CD9}"/>
              </a:ext>
            </a:extLst>
          </p:cNvPr>
          <p:cNvSpPr txBox="1"/>
          <p:nvPr/>
        </p:nvSpPr>
        <p:spPr>
          <a:xfrm>
            <a:off x="457200" y="5384800"/>
            <a:ext cx="53975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Home view before a prompt is sent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7AEF81-6836-D71F-AC9A-831BE4777977}"/>
              </a:ext>
            </a:extLst>
          </p:cNvPr>
          <p:cNvSpPr/>
          <p:nvPr/>
        </p:nvSpPr>
        <p:spPr>
          <a:xfrm>
            <a:off x="6337300" y="1117600"/>
            <a:ext cx="5397500" cy="41910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7088C4-3B2B-B089-DBA5-2C0DBD8FA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00" y="1117600"/>
            <a:ext cx="5397500" cy="41909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E534FD-1FA0-4001-EE8F-135ACD200DBE}"/>
              </a:ext>
            </a:extLst>
          </p:cNvPr>
          <p:cNvSpPr txBox="1"/>
          <p:nvPr/>
        </p:nvSpPr>
        <p:spPr>
          <a:xfrm>
            <a:off x="6337300" y="5384800"/>
            <a:ext cx="53975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Prompt drafted for a specific Indian-market shopping query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CA91F-D2C1-2E21-7500-239563DAFD73}"/>
              </a:ext>
            </a:extLst>
          </p:cNvPr>
          <p:cNvSpPr txBox="1"/>
          <p:nvPr/>
        </p:nvSpPr>
        <p:spPr>
          <a:xfrm>
            <a:off x="660400" y="5524500"/>
            <a:ext cx="10922000" cy="89255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Clean landing page with one clear call to action: ask a shopping question.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Prompt suggestions accelerate first use and demonstrate supported query styles.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Composer supports Enter-to-send and Shift+Enter for multiline prompts.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93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423899-DE62-D7A9-16A4-424CE11CB222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0DFFD7-57CF-371D-09DE-32C6DE8D481D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UI Walkthrough: Live Research and Streaming States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53495-0CE8-F000-9606-6C8CE42FF14B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DE774-BCD3-DA68-2E5D-B2EA64DEDB5B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E7759F-B643-BC80-EBC8-9FEE0039C77E}"/>
              </a:ext>
            </a:extLst>
          </p:cNvPr>
          <p:cNvSpPr/>
          <p:nvPr/>
        </p:nvSpPr>
        <p:spPr>
          <a:xfrm>
            <a:off x="1016000" y="1041400"/>
            <a:ext cx="10160000" cy="40640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9264AD-3897-9A60-70A6-FE3A6A08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1" y="1041400"/>
            <a:ext cx="10160000" cy="406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B9ED38-978F-E0BB-DA8D-E19E333CC629}"/>
              </a:ext>
            </a:extLst>
          </p:cNvPr>
          <p:cNvSpPr txBox="1"/>
          <p:nvPr/>
        </p:nvSpPr>
        <p:spPr>
          <a:xfrm>
            <a:off x="1016000" y="5181600"/>
            <a:ext cx="10160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Thread begins with the user message and immediately surfaces live research status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E6D481-DDC6-D06A-7539-39598D515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612712"/>
              </p:ext>
            </p:extLst>
          </p:nvPr>
        </p:nvGraphicFramePr>
        <p:xfrm>
          <a:off x="1955800" y="5384800"/>
          <a:ext cx="82804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200">
                  <a:extLst>
                    <a:ext uri="{9D8B030D-6E8A-4147-A177-3AD203B41FA5}">
                      <a16:colId xmlns:a16="http://schemas.microsoft.com/office/drawing/2014/main" val="1263706204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2392759400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State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Meaning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87758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Searching YouTube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Retrieval is running and transcript evidence is being collected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36691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Live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Assistant stream is active and the response channel is open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732502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Working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Composer is locked to prevent conflicting requests during an active run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813389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Stop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User can interrupt the active generation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655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168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5CB4C11-6000-B49D-C55B-A465E5E0E717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756E7A4-9E62-362C-FDEF-2A178A0F5596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UI Walkthrough: Source Transparency During Generation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64822-FBB7-9967-DBA5-EB4241354EC2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1CB89-0207-7E4C-A9D2-2A65B6CE4101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3F2AF-3E65-F6D2-BBC2-F6F1CB54D561}"/>
              </a:ext>
            </a:extLst>
          </p:cNvPr>
          <p:cNvSpPr/>
          <p:nvPr/>
        </p:nvSpPr>
        <p:spPr>
          <a:xfrm>
            <a:off x="685800" y="1041400"/>
            <a:ext cx="10820400" cy="43688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67B067-CBCD-0CBE-548F-2DE79102A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41399"/>
            <a:ext cx="10820400" cy="4368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2E1AA9-F920-BDE8-1364-2E509059E96A}"/>
              </a:ext>
            </a:extLst>
          </p:cNvPr>
          <p:cNvSpPr txBox="1"/>
          <p:nvPr/>
        </p:nvSpPr>
        <p:spPr>
          <a:xfrm>
            <a:off x="685800" y="5486400"/>
            <a:ext cx="108204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Source links are surfaced while the verdict is still being drafted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CE4C33-06A1-FB1E-D059-EA969C58D157}"/>
              </a:ext>
            </a:extLst>
          </p:cNvPr>
          <p:cNvSpPr txBox="1"/>
          <p:nvPr/>
        </p:nvSpPr>
        <p:spPr>
          <a:xfrm>
            <a:off x="685800" y="5562600"/>
            <a:ext cx="10820400" cy="89255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Multiple review channels contribute evidence instead of relying on a single video.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Users can see exactly which review videos informed the answer before the response completes.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This improves trust, explainability, and review auditability.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93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C3D444-89FE-8EEE-A59E-3C0489DC9855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671CF49-8A68-7AA4-60A5-A68DF78F184B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Recommendation Output: Verdict and Quick Compare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39FE5-0043-F705-379E-4DB75FE13AFD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EAD3-E7D0-A24B-4E54-2A0FAB6FFF4E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5C800-5B2D-AC95-2C5E-96A05F175D26}"/>
              </a:ext>
            </a:extLst>
          </p:cNvPr>
          <p:cNvSpPr/>
          <p:nvPr/>
        </p:nvSpPr>
        <p:spPr>
          <a:xfrm>
            <a:off x="838200" y="990600"/>
            <a:ext cx="10515600" cy="42164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770D31-6DD6-FFA7-E0EA-E52CF82AD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990600"/>
            <a:ext cx="10515600" cy="42925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51F693-BA1D-C8CB-257D-06EA5D8E42C3}"/>
              </a:ext>
            </a:extLst>
          </p:cNvPr>
          <p:cNvSpPr txBox="1"/>
          <p:nvPr/>
        </p:nvSpPr>
        <p:spPr>
          <a:xfrm>
            <a:off x="838200" y="5283200"/>
            <a:ext cx="105156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Final answer format emphasizes verdict, quick compare blocks, watch-outs, and pricing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B453D-DD82-0E88-9133-FA0976A1FF80}"/>
              </a:ext>
            </a:extLst>
          </p:cNvPr>
          <p:cNvSpPr txBox="1"/>
          <p:nvPr/>
        </p:nvSpPr>
        <p:spPr>
          <a:xfrm>
            <a:off x="838200" y="5410200"/>
            <a:ext cx="10515600" cy="89255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The output moved away from clumsy markdown tables toward compact compare blocks.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Each recommendation includes best-for guidance, gaming/performance notes, battery, watch-outs, and approximate INR pricing.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When transcript access is limited, the assistant degrades gracefully instead of failing outright.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81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E1D6B1E-5F6D-8795-5A56-B9122F37D062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802747-112A-5BE8-48B3-42D05B83376A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4F6F8"/>
                </a:solidFill>
                <a:latin typeface="Aptos Display" panose="020B0004020202020204" pitchFamily="34" charset="0"/>
              </a:rPr>
              <a:t>Recommendation Output: Product-Level Specificity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34636-847D-0AB7-C80E-617FB654BA25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F0A26-9C9C-7401-F6E8-D3D2790335DE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087765-372D-26CF-40EA-24680909EF46}"/>
              </a:ext>
            </a:extLst>
          </p:cNvPr>
          <p:cNvSpPr/>
          <p:nvPr/>
        </p:nvSpPr>
        <p:spPr>
          <a:xfrm>
            <a:off x="838200" y="990600"/>
            <a:ext cx="10515600" cy="42164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4E9CF2-F016-E69E-84D5-D7D1C021E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0599"/>
            <a:ext cx="10515599" cy="43433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5D6B23-ADA0-B342-A5BE-E99B659E9729}"/>
              </a:ext>
            </a:extLst>
          </p:cNvPr>
          <p:cNvSpPr txBox="1"/>
          <p:nvPr/>
        </p:nvSpPr>
        <p:spPr>
          <a:xfrm>
            <a:off x="838200" y="5283200"/>
            <a:ext cx="105156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Recommendations are presented as concrete product options rather than brand-only advice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F62CB-0D23-9993-1A54-93405553C2F2}"/>
              </a:ext>
            </a:extLst>
          </p:cNvPr>
          <p:cNvSpPr txBox="1"/>
          <p:nvPr/>
        </p:nvSpPr>
        <p:spPr>
          <a:xfrm>
            <a:off x="838200" y="5410200"/>
            <a:ext cx="10515600" cy="89255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The response policy was strengthened to prefer exact models and budget-relevant shortlists.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Ambiguous categories can trigger clarifications instead of generic recommendations.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India-focused pricing improves practical decision support for the target audience.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832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4A6505-A501-5BA4-6CDE-487D6C324B3F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95980-FFF0-069F-F468-FE65C70AFF00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Recommendation Output: Attached Evidence Links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0A960-27D8-690E-CABE-EE63FFAA0BB0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036A7-135C-B3D7-5B49-E54755EDB8E4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31A2F-1DDA-68C7-48FC-B591ABDBD076}"/>
              </a:ext>
            </a:extLst>
          </p:cNvPr>
          <p:cNvSpPr/>
          <p:nvPr/>
        </p:nvSpPr>
        <p:spPr>
          <a:xfrm>
            <a:off x="838200" y="990600"/>
            <a:ext cx="10515600" cy="4216400"/>
          </a:xfrm>
          <a:prstGeom prst="rect">
            <a:avLst/>
          </a:prstGeom>
          <a:solidFill>
            <a:srgbClr val="12151C">
              <a:alpha val="90000"/>
            </a:srgbClr>
          </a:solidFill>
          <a:ln w="12700">
            <a:solidFill>
              <a:srgbClr val="4951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731189-A750-87B7-3AC5-2BCEBEEA9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0600"/>
            <a:ext cx="10515600" cy="42163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53D7C3-D73B-76F1-C551-98285EF7CC57}"/>
              </a:ext>
            </a:extLst>
          </p:cNvPr>
          <p:cNvSpPr txBox="1"/>
          <p:nvPr/>
        </p:nvSpPr>
        <p:spPr>
          <a:xfrm>
            <a:off x="838200" y="5283200"/>
            <a:ext cx="105156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0B6BF"/>
                </a:solidFill>
                <a:latin typeface="Aptos" panose="020B0004020202020204" pitchFamily="34" charset="0"/>
              </a:rPr>
              <a:t>Source chips remain attached to the recommendation output for quick verification</a:t>
            </a:r>
            <a:endParaRPr lang="en-IN" sz="1000">
              <a:solidFill>
                <a:srgbClr val="B0B6B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8230B-99B7-9577-06DC-B7649355E78C}"/>
              </a:ext>
            </a:extLst>
          </p:cNvPr>
          <p:cNvSpPr txBox="1"/>
          <p:nvPr/>
        </p:nvSpPr>
        <p:spPr>
          <a:xfrm>
            <a:off x="838200" y="5410200"/>
            <a:ext cx="10515600" cy="89255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Final answers keep source visibility close to the recommendation itself.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This supports follow-up questions such as battery, thermals, value, or camera trade-offs.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The UI is designed to feel conversational while still preserving evidence grounding.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57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F0E0C6A-3E69-7283-02F0-EC41AF75AE07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1DE5E43-AE28-8C7A-3CC8-778A0E34712B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4F6F8"/>
                </a:solidFill>
                <a:latin typeface="Aptos Display" panose="020B0004020202020204" pitchFamily="34" charset="0"/>
              </a:rPr>
              <a:t>Sessions, Privacy, and Persistence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90587-610E-01CE-B928-37B30E8A7C20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STATE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E94C9-0C1B-0DBE-5FD9-05084BF981BF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DB660F-458A-FD3E-86A6-775855CB5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34570"/>
              </p:ext>
            </p:extLst>
          </p:nvPr>
        </p:nvGraphicFramePr>
        <p:xfrm>
          <a:off x="457200" y="1193800"/>
          <a:ext cx="11277600" cy="355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47692419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4224030532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370239334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Capability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Final behavior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Engineering mechanism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309048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Saved sessions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Reopen earlier chats from the sidebar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Session and message tables in DB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5525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Rename / delete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Users control chat titles and cleanup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PATCH/DELETE session endpoints + sidebar actions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0409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Single smart auto-title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One refined title appears after the first answer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Background title generation after assistant response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27416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Browser-private chats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One visitor cannot see another visitor's conversations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Anonymous cookie + owner_id session filtering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07203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Local and production storage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SQLite locally, Postgres on Render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DB_PATH fallback locally, DATABASE_URL in production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721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0D7D73-A789-5D97-28A4-55AF757B25F7}"/>
              </a:ext>
            </a:extLst>
          </p:cNvPr>
          <p:cNvSpPr txBox="1"/>
          <p:nvPr/>
        </p:nvSpPr>
        <p:spPr>
          <a:xfrm>
            <a:off x="457200" y="4953000"/>
            <a:ext cx="11277600" cy="63094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A critical late-stage fix was preventing public chat leakage once the site was deployed on a shared URL.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Authentication was intentionally avoided to keep the product lightweight, so privacy was implemented per browser session instead.</a:t>
            </a:r>
            <a:endParaRPr lang="en-IN" sz="15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671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F95E693-8EBE-F458-6B01-5431AD74F17C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ED7369-6CC4-2466-F20D-70CDA578F7F6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Deployment Architecture and Production Setup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C741F-21C3-FABF-732D-F0B71C0D8824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EC83B-1C81-A13B-9989-50AA8D398AAA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BB6335-90C3-5EFE-98B9-21C136A38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116804"/>
              </p:ext>
            </p:extLst>
          </p:nvPr>
        </p:nvGraphicFramePr>
        <p:xfrm>
          <a:off x="304800" y="1143000"/>
          <a:ext cx="11582400" cy="406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1559711340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000658404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3131195195"/>
                    </a:ext>
                  </a:extLst>
                </a:gridCol>
              </a:tblGrid>
              <a:tr h="58057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Deployment layer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What was done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Outcome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71168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Source control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Initialized Git repository, created GitHub repo, documented setup in README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Reproducible project history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720576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Backend hosting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Deployed Flask API to Render Web Service with Gunicorn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 SSE-capable API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066139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Frontend hosting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Deployed Vite build to Render Static Site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 client URL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24834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Database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Provisioned Render Postgres and injected DATABASE_URL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Durable session persistence in production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91918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Configuration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Wired GEMINI_API_KEY, CORS_ORIGIN, VITE_API_BASE_URL, health checks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Connected services and prevented CORS issues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918064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Operational fit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Chose Render over Vercel for Flask + SSE + long-lived backend patterns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Simpler deployment model for this architecture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489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7143965-19F6-42DB-BC1F-812299A192C3}"/>
              </a:ext>
            </a:extLst>
          </p:cNvPr>
          <p:cNvSpPr txBox="1"/>
          <p:nvPr/>
        </p:nvSpPr>
        <p:spPr>
          <a:xfrm>
            <a:off x="457200" y="5410200"/>
            <a:ext cx="11277600" cy="81560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Production persistence was upgraded from SQLite to Postgres because free service filesystems are not durable enough for shared deployment.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F4F6F8"/>
                </a:solidFill>
                <a:latin typeface="Aptos" panose="020B0004020202020204" pitchFamily="34" charset="0"/>
              </a:rPr>
              <a:t>A Render Blueprint (render.yaml) keeps frontend, backend, and database wiring aligned.</a:t>
            </a:r>
            <a:endParaRPr lang="en-IN" sz="14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41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0B515A8-3A70-C12E-3336-3036368EC1C0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9D638B-DF44-06B1-59C3-5C72DC9F7808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Major Technical Issues and Their Resolutions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D9067-84CE-70FE-AACA-E531EDB434E8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LESSONS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CC5EE-90C6-5750-34BB-CBB7D1B7E6ED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19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E4AA28-CFFF-2DB2-5D9B-A14E0427B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22666"/>
              </p:ext>
            </p:extLst>
          </p:nvPr>
        </p:nvGraphicFramePr>
        <p:xfrm>
          <a:off x="304800" y="1168400"/>
          <a:ext cx="11582400" cy="439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1890107801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146887254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3470988542"/>
                    </a:ext>
                  </a:extLst>
                </a:gridCol>
              </a:tblGrid>
              <a:tr h="732367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Issue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Observed problem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Resolution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18527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PowerShell execution policy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Blocked venv activation and direct npm usage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Used .venv\\Scripts\\python and npm.cmd instead of changing global policy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110682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Python dependency mismatch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youtube-transcript-api 0.6.3 failed on Python 3.14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Upgraded to a compatible version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018112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 search breakage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youtube-search-python conflicted with newer httpx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Pinned a compatible httpx release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281834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Gemini model / config errors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Unavailable model aliases and invalid function calling config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Updated model defaults, added fallback logic, corrected tool config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94928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Quota exhaustion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 traffic exceeded free-tier request limits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Added model fallback, better usage patterns, and quota-aware messaging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6785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9FF457-2B70-B292-2B41-544895FFC2D3}"/>
              </a:ext>
            </a:extLst>
          </p:cNvPr>
          <p:cNvSpPr txBox="1"/>
          <p:nvPr/>
        </p:nvSpPr>
        <p:spPr>
          <a:xfrm>
            <a:off x="457200" y="5740400"/>
            <a:ext cx="11277600" cy="30777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8992A5"/>
                </a:solidFill>
                <a:latin typeface="Aptos" panose="020B0004020202020204" pitchFamily="34" charset="0"/>
              </a:rPr>
              <a:t>These issues were part of turning the app from a local prototype into a public deployment.</a:t>
            </a:r>
            <a:endParaRPr lang="en-IN" sz="1400">
              <a:solidFill>
                <a:srgbClr val="8992A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193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F48404-950A-9FDA-6757-004E57CC8BEF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E41220-BC80-E6F6-6738-73E1464FA75D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Major Product and UX Issues and Their Resolutions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578C8-34FC-B139-AA94-FCE7C4780673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LESSONS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8E798-4965-596D-4018-07B9F9D7832F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D11646-C2CC-313B-70E8-59A21DC9B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07218"/>
              </p:ext>
            </p:extLst>
          </p:nvPr>
        </p:nvGraphicFramePr>
        <p:xfrm>
          <a:off x="304800" y="1168400"/>
          <a:ext cx="11582400" cy="439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1117232042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4103830720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1944331523"/>
                    </a:ext>
                  </a:extLst>
                </a:gridCol>
              </a:tblGrid>
              <a:tr h="732367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Issue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Observed problem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Resolution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90677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Public chat leakage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Shared URL exposed saved chats to other users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Introduced browser-scoped anonymous ownership filtering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451011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Generic recommendations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Queries like watches under 5000 produced brand-level answers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Strengthened prompts, added category clarification, pushed model-specific output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207399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Slow first responses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Fresh research paid for multiple AI/retrieval costs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Hybrid fast-path routing, leaner transcripts, candidate tuning, short-lived cache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83634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Vague chat titles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Auto-titles were not useful in the sidebar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Moved to one smarter title generated after the first answer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453963"/>
                  </a:ext>
                </a:extLst>
              </a:tr>
              <a:tr h="732367">
                <a:tc>
                  <a:txBody>
                    <a:bodyPr/>
                    <a:lstStyle/>
                    <a:p>
                      <a:r>
                        <a:rPr lang="en-IN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Cluttered UI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Duplicate controls and poor comparison formatting reduced clarity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Redesigned the interface, simplified controls, replaced tables with compare blocks</a:t>
                      </a:r>
                      <a:endParaRPr lang="en-IN" sz="10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3241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40593A-BDA4-7AAA-A7C2-7B48526A0C03}"/>
              </a:ext>
            </a:extLst>
          </p:cNvPr>
          <p:cNvSpPr txBox="1"/>
          <p:nvPr/>
        </p:nvSpPr>
        <p:spPr>
          <a:xfrm>
            <a:off x="457200" y="5740400"/>
            <a:ext cx="11277600" cy="30777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8992A5"/>
                </a:solidFill>
                <a:latin typeface="Aptos" panose="020B0004020202020204" pitchFamily="34" charset="0"/>
              </a:rPr>
              <a:t>The final user experience is the result of iterative correction, not just initial implementation.</a:t>
            </a:r>
            <a:endParaRPr lang="en-IN" sz="1400">
              <a:solidFill>
                <a:srgbClr val="8992A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46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D5F4AB-6F72-42A4-77CA-732F965E429C}"/>
              </a:ext>
            </a:extLst>
          </p:cNvPr>
          <p:cNvCxnSpPr/>
          <p:nvPr/>
        </p:nvCxnSpPr>
        <p:spPr>
          <a:xfrm>
            <a:off x="457200" y="685800"/>
            <a:ext cx="11277600" cy="0"/>
          </a:xfrm>
          <a:prstGeom prst="line">
            <a:avLst/>
          </a:prstGeom>
          <a:ln w="14605">
            <a:solidFill>
              <a:srgbClr val="4951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56AB67-60E0-8031-D022-7426320FA2E2}"/>
              </a:ext>
            </a:extLst>
          </p:cNvPr>
          <p:cNvSpPr txBox="1"/>
          <p:nvPr/>
        </p:nvSpPr>
        <p:spPr>
          <a:xfrm>
            <a:off x="457200" y="177800"/>
            <a:ext cx="7747000" cy="46166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4F6F8"/>
                </a:solidFill>
                <a:latin typeface="Aptos Display" panose="020B0004020202020204" pitchFamily="34" charset="0"/>
              </a:rPr>
              <a:t>Final Feature Set and Review Readiness</a:t>
            </a:r>
            <a:endParaRPr lang="en-IN" sz="2400" b="1">
              <a:solidFill>
                <a:srgbClr val="F4F6F8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3DF63-5726-D9D5-4FF1-170FB90C17BC}"/>
              </a:ext>
            </a:extLst>
          </p:cNvPr>
          <p:cNvSpPr txBox="1"/>
          <p:nvPr/>
        </p:nvSpPr>
        <p:spPr>
          <a:xfrm>
            <a:off x="8890000" y="228600"/>
            <a:ext cx="2794000" cy="2462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D2B460"/>
                </a:solidFill>
                <a:latin typeface="Aptos" panose="020B0004020202020204" pitchFamily="34" charset="0"/>
              </a:rPr>
              <a:t>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06C2F-6D66-3215-00A6-273C83EA6113}"/>
              </a:ext>
            </a:extLst>
          </p:cNvPr>
          <p:cNvSpPr txBox="1"/>
          <p:nvPr/>
        </p:nvSpPr>
        <p:spPr>
          <a:xfrm>
            <a:off x="11404600" y="6527800"/>
            <a:ext cx="3302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rtlCol="0">
            <a:spAutoFit/>
          </a:bodyPr>
          <a:lstStyle/>
          <a:p>
            <a:pPr algn="r"/>
            <a:r>
              <a:rPr lang="en-IN" sz="900">
                <a:solidFill>
                  <a:srgbClr val="8992A5"/>
                </a:solidFill>
                <a:latin typeface="Aptos" panose="020B0004020202020204" pitchFamily="34" charset="0"/>
              </a:rPr>
              <a:t>21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949F32-AC43-CC94-673F-46D3DE7EF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233720"/>
              </p:ext>
            </p:extLst>
          </p:nvPr>
        </p:nvGraphicFramePr>
        <p:xfrm>
          <a:off x="762000" y="12192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93093716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08027094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Capability group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D2B460"/>
                          </a:solidFill>
                          <a:latin typeface="Aptos" panose="020B0004020202020204" pitchFamily="34" charset="0"/>
                        </a:rPr>
                        <a:t>Delivered features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25233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Core AI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Conversational shopping assistant, follow-up support, Gemini synthesis, India-focused outputs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1719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Retrieval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YouTube review search, transcript-backed reasoning, parallel transcript extraction, source dedupe, caching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8982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Streaming UX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SSE response streaming, live status updates, source chips, incremental rendering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1392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Sessions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Saved chats, smart titles, rename/delete, sidebar revisit flow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83672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Privacy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Browser-scoped session isolation with no cross-user leakage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2891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Deployment</a:t>
                      </a: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GitHub repo, Render frontend/backend, Postgres persistence, health checks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6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41833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UI polish</a:t>
                      </a: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F4F6F8"/>
                          </a:solidFill>
                          <a:latin typeface="Aptos" panose="020B0004020202020204" pitchFamily="34" charset="0"/>
                        </a:rPr>
                        <a:t>Dark minimal design, collapsible sidebar, centered landing page, keyboard-first interaction</a:t>
                      </a:r>
                      <a:endParaRPr lang="en-IN" sz="1100" b="0">
                        <a:solidFill>
                          <a:srgbClr val="F4F6F8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121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71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00108EF-52F4-0DA4-BBB0-ABE6E034B9FD}"/>
              </a:ext>
            </a:extLst>
          </p:cNvPr>
          <p:cNvSpPr txBox="1"/>
          <p:nvPr/>
        </p:nvSpPr>
        <p:spPr>
          <a:xfrm>
            <a:off x="762000" y="5207000"/>
            <a:ext cx="10668000" cy="861774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Final result: a publicly deployed, evidence-grounded AI shopping assistant with real engineering depth across retrieval, AI orchestration, UX, privacy, persistence, and deployment.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sz="1500">
                <a:solidFill>
                  <a:srgbClr val="F4F6F8"/>
                </a:solidFill>
                <a:latin typeface="Aptos" panose="020B0004020202020204" pitchFamily="34" charset="0"/>
              </a:rPr>
              <a:t>The system is ready for project review because it demonstrates both product thinking and end-to-end implementation rigor.</a:t>
            </a:r>
            <a:endParaRPr lang="en-IN" sz="1500">
              <a:solidFill>
                <a:srgbClr val="F4F6F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57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2390</Words>
  <Application>Microsoft Office PowerPoint</Application>
  <PresentationFormat>Widescreen</PresentationFormat>
  <Paragraphs>388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Chathurvedi Vanga</dc:creator>
  <cp:lastModifiedBy>Chathurvedi Vanga</cp:lastModifiedBy>
  <cp:revision>5</cp:revision>
  <dcterms:created xsi:type="dcterms:W3CDTF">2026-04-09T07:24:52Z</dcterms:created>
  <dcterms:modified xsi:type="dcterms:W3CDTF">2026-04-09T07:28:59Z</dcterms:modified>
</cp:coreProperties>
</file>